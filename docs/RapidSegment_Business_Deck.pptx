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1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694411-78DE-4877-BD18-E65BDC3EB0AD}" v="6" dt="2026-08-20T16:32:50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7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SHWARUP BISWAS" userId="b1b10b90cd7ae38c" providerId="LiveId" clId="{BE17FBC0-7DD6-4654-983B-69437D6DE70B}"/>
    <pc:docChg chg="undo custSel modSld sldOrd">
      <pc:chgData name="BISHWARUP BISWAS" userId="b1b10b90cd7ae38c" providerId="LiveId" clId="{BE17FBC0-7DD6-4654-983B-69437D6DE70B}" dt="2026-08-20T16:43:20.682" v="132"/>
      <pc:docMkLst>
        <pc:docMk/>
      </pc:docMkLst>
      <pc:sldChg chg="addSp delSp modSp mod">
        <pc:chgData name="BISHWARUP BISWAS" userId="b1b10b90cd7ae38c" providerId="LiveId" clId="{BE17FBC0-7DD6-4654-983B-69437D6DE70B}" dt="2026-08-20T16:29:07.657" v="43" actId="313"/>
        <pc:sldMkLst>
          <pc:docMk/>
          <pc:sldMk cId="0" sldId="257"/>
        </pc:sldMkLst>
        <pc:spChg chg="mod">
          <ac:chgData name="BISHWARUP BISWAS" userId="b1b10b90cd7ae38c" providerId="LiveId" clId="{BE17FBC0-7DD6-4654-983B-69437D6DE70B}" dt="2026-08-20T16:28:57.548" v="35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8:54.373" v="33" actId="208"/>
          <ac:spMkLst>
            <pc:docMk/>
            <pc:sldMk cId="0" sldId="257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1.268" v="36" actId="10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4.902" v="42" actId="10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7.657" v="43" actId="31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1.644" v="37" actId="108"/>
          <ac:spMkLst>
            <pc:docMk/>
            <pc:sldMk cId="0" sldId="257"/>
            <ac:spMk id="20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2.379" v="39" actId="108"/>
          <ac:spMkLst>
            <pc:docMk/>
            <pc:sldMk cId="0" sldId="257"/>
            <ac:spMk id="2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2.028" v="38" actId="108"/>
          <ac:spMkLst>
            <pc:docMk/>
            <pc:sldMk cId="0" sldId="257"/>
            <ac:spMk id="30" creationId="{00000000-0000-0000-0000-000000000000}"/>
          </ac:spMkLst>
        </pc:spChg>
        <pc:spChg chg="add del mod">
          <ac:chgData name="BISHWARUP BISWAS" userId="b1b10b90cd7ae38c" providerId="LiveId" clId="{BE17FBC0-7DD6-4654-983B-69437D6DE70B}" dt="2026-08-20T16:23:50.424" v="2"/>
          <ac:spMkLst>
            <pc:docMk/>
            <pc:sldMk cId="0" sldId="257"/>
            <ac:spMk id="37" creationId="{D35ABE14-B3E4-0965-3CE4-819E97CE8102}"/>
          </ac:spMkLst>
        </pc:spChg>
      </pc:sldChg>
      <pc:sldChg chg="modSp mod">
        <pc:chgData name="BISHWARUP BISWAS" userId="b1b10b90cd7ae38c" providerId="LiveId" clId="{BE17FBC0-7DD6-4654-983B-69437D6DE70B}" dt="2026-08-20T16:34:06.092" v="97" actId="108"/>
        <pc:sldMkLst>
          <pc:docMk/>
          <pc:sldMk cId="0" sldId="258"/>
        </pc:sldMkLst>
        <pc:spChg chg="mod">
          <ac:chgData name="BISHWARUP BISWAS" userId="b1b10b90cd7ae38c" providerId="LiveId" clId="{BE17FBC0-7DD6-4654-983B-69437D6DE70B}" dt="2026-08-20T16:34:05.196" v="96" actId="108"/>
          <ac:spMkLst>
            <pc:docMk/>
            <pc:sldMk cId="0" sldId="258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06.092" v="97" actId="108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BISHWARUP BISWAS" userId="b1b10b90cd7ae38c" providerId="LiveId" clId="{BE17FBC0-7DD6-4654-983B-69437D6DE70B}" dt="2026-08-20T16:34:09.540" v="99" actId="108"/>
        <pc:sldMkLst>
          <pc:docMk/>
          <pc:sldMk cId="0" sldId="260"/>
        </pc:sldMkLst>
        <pc:spChg chg="mod">
          <ac:chgData name="BISHWARUP BISWAS" userId="b1b10b90cd7ae38c" providerId="LiveId" clId="{BE17FBC0-7DD6-4654-983B-69437D6DE70B}" dt="2026-08-20T16:34:08.564" v="98" actId="108"/>
          <ac:spMkLst>
            <pc:docMk/>
            <pc:sldMk cId="0" sldId="260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09.540" v="99" actId="108"/>
          <ac:spMkLst>
            <pc:docMk/>
            <pc:sldMk cId="0" sldId="260"/>
            <ac:spMk id="20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5:56.096" v="14" actId="207"/>
          <ac:spMkLst>
            <pc:docMk/>
            <pc:sldMk cId="0" sldId="260"/>
            <ac:spMk id="21" creationId="{00000000-0000-0000-0000-000000000000}"/>
          </ac:spMkLst>
        </pc:spChg>
      </pc:sldChg>
      <pc:sldChg chg="modSp mod">
        <pc:chgData name="BISHWARUP BISWAS" userId="b1b10b90cd7ae38c" providerId="LiveId" clId="{BE17FBC0-7DD6-4654-983B-69437D6DE70B}" dt="2026-08-20T16:34:14.820" v="103" actId="108"/>
        <pc:sldMkLst>
          <pc:docMk/>
          <pc:sldMk cId="0" sldId="261"/>
        </pc:sldMkLst>
        <pc:spChg chg="mod">
          <ac:chgData name="BISHWARUP BISWAS" userId="b1b10b90cd7ae38c" providerId="LiveId" clId="{BE17FBC0-7DD6-4654-983B-69437D6DE70B}" dt="2026-08-20T16:34:13.331" v="100" actId="108"/>
          <ac:spMkLst>
            <pc:docMk/>
            <pc:sldMk cId="0" sldId="261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3.948" v="101" actId="108"/>
          <ac:spMkLst>
            <pc:docMk/>
            <pc:sldMk cId="0" sldId="261"/>
            <ac:spMk id="10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4.333" v="102" actId="108"/>
          <ac:spMkLst>
            <pc:docMk/>
            <pc:sldMk cId="0" sldId="261"/>
            <ac:spMk id="1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4.820" v="103" actId="108"/>
          <ac:spMkLst>
            <pc:docMk/>
            <pc:sldMk cId="0" sldId="261"/>
            <ac:spMk id="20" creationId="{00000000-0000-0000-0000-000000000000}"/>
          </ac:spMkLst>
        </pc:spChg>
      </pc:sldChg>
      <pc:sldChg chg="modSp mod">
        <pc:chgData name="BISHWARUP BISWAS" userId="b1b10b90cd7ae38c" providerId="LiveId" clId="{BE17FBC0-7DD6-4654-983B-69437D6DE70B}" dt="2026-08-20T16:34:19.955" v="107" actId="108"/>
        <pc:sldMkLst>
          <pc:docMk/>
          <pc:sldMk cId="0" sldId="262"/>
        </pc:sldMkLst>
        <pc:spChg chg="mod">
          <ac:chgData name="BISHWARUP BISWAS" userId="b1b10b90cd7ae38c" providerId="LiveId" clId="{BE17FBC0-7DD6-4654-983B-69437D6DE70B}" dt="2026-08-20T16:34:18.212" v="104" actId="108"/>
          <ac:spMkLst>
            <pc:docMk/>
            <pc:sldMk cId="0" sldId="262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8.771" v="105" actId="10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9.236" v="106" actId="108"/>
          <ac:spMkLst>
            <pc:docMk/>
            <pc:sldMk cId="0" sldId="262"/>
            <ac:spMk id="17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9.955" v="107" actId="108"/>
          <ac:spMkLst>
            <pc:docMk/>
            <pc:sldMk cId="0" sldId="262"/>
            <ac:spMk id="23" creationId="{00000000-0000-0000-0000-000000000000}"/>
          </ac:spMkLst>
        </pc:spChg>
      </pc:sldChg>
      <pc:sldChg chg="modSp mod">
        <pc:chgData name="BISHWARUP BISWAS" userId="b1b10b90cd7ae38c" providerId="LiveId" clId="{BE17FBC0-7DD6-4654-983B-69437D6DE70B}" dt="2026-08-20T16:34:23.157" v="109" actId="108"/>
        <pc:sldMkLst>
          <pc:docMk/>
          <pc:sldMk cId="0" sldId="263"/>
        </pc:sldMkLst>
        <pc:spChg chg="mod">
          <ac:chgData name="BISHWARUP BISWAS" userId="b1b10b90cd7ae38c" providerId="LiveId" clId="{BE17FBC0-7DD6-4654-983B-69437D6DE70B}" dt="2026-08-20T16:34:23.157" v="109" actId="108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BISHWARUP BISWAS" userId="b1b10b90cd7ae38c" providerId="LiveId" clId="{BE17FBC0-7DD6-4654-983B-69437D6DE70B}" dt="2026-08-20T16:34:43.412" v="121" actId="108"/>
        <pc:sldMkLst>
          <pc:docMk/>
          <pc:sldMk cId="0" sldId="265"/>
        </pc:sldMkLst>
        <pc:spChg chg="mod">
          <ac:chgData name="BISHWARUP BISWAS" userId="b1b10b90cd7ae38c" providerId="LiveId" clId="{BE17FBC0-7DD6-4654-983B-69437D6DE70B}" dt="2026-08-20T16:34:41.732" v="118" actId="108"/>
          <ac:spMkLst>
            <pc:docMk/>
            <pc:sldMk cId="0" sldId="265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42.364" v="119" actId="108"/>
          <ac:spMkLst>
            <pc:docMk/>
            <pc:sldMk cId="0" sldId="265"/>
            <ac:spMk id="10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43.412" v="121" actId="108"/>
          <ac:spMkLst>
            <pc:docMk/>
            <pc:sldMk cId="0" sldId="265"/>
            <ac:spMk id="1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43.069" v="120" actId="108"/>
          <ac:spMkLst>
            <pc:docMk/>
            <pc:sldMk cId="0" sldId="265"/>
            <ac:spMk id="20" creationId="{00000000-0000-0000-0000-000000000000}"/>
          </ac:spMkLst>
        </pc:spChg>
      </pc:sldChg>
      <pc:sldChg chg="modSp mod ord">
        <pc:chgData name="BISHWARUP BISWAS" userId="b1b10b90cd7ae38c" providerId="LiveId" clId="{BE17FBC0-7DD6-4654-983B-69437D6DE70B}" dt="2026-08-20T16:43:20.682" v="132"/>
        <pc:sldMkLst>
          <pc:docMk/>
          <pc:sldMk cId="0" sldId="268"/>
        </pc:sldMkLst>
        <pc:spChg chg="mod">
          <ac:chgData name="BISHWARUP BISWAS" userId="b1b10b90cd7ae38c" providerId="LiveId" clId="{BE17FBC0-7DD6-4654-983B-69437D6DE70B}" dt="2026-08-20T16:34:47.375" v="122" actId="108"/>
          <ac:spMkLst>
            <pc:docMk/>
            <pc:sldMk cId="0" sldId="268"/>
            <ac:spMk id="8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48.005" v="123" actId="108"/>
          <ac:spMkLst>
            <pc:docMk/>
            <pc:sldMk cId="0" sldId="268"/>
            <ac:spMk id="28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48.526" v="124" actId="108"/>
          <ac:spMkLst>
            <pc:docMk/>
            <pc:sldMk cId="0" sldId="268"/>
            <ac:spMk id="48" creationId="{00000000-0000-0000-0000-000000000000}"/>
          </ac:spMkLst>
        </pc:spChg>
      </pc:sldChg>
      <pc:sldChg chg="modSp mod">
        <pc:chgData name="BISHWARUP BISWAS" userId="b1b10b90cd7ae38c" providerId="LiveId" clId="{BE17FBC0-7DD6-4654-983B-69437D6DE70B}" dt="2026-08-20T16:34:39.741" v="117" actId="108"/>
        <pc:sldMkLst>
          <pc:docMk/>
          <pc:sldMk cId="0" sldId="270"/>
        </pc:sldMkLst>
        <pc:spChg chg="mod">
          <ac:chgData name="BISHWARUP BISWAS" userId="b1b10b90cd7ae38c" providerId="LiveId" clId="{BE17FBC0-7DD6-4654-983B-69437D6DE70B}" dt="2026-08-20T16:34:37.285" v="113" actId="108"/>
          <ac:spMkLst>
            <pc:docMk/>
            <pc:sldMk cId="0" sldId="270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7.846" v="114" actId="108"/>
          <ac:spMkLst>
            <pc:docMk/>
            <pc:sldMk cId="0" sldId="270"/>
            <ac:spMk id="12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8.575" v="115" actId="108"/>
          <ac:spMkLst>
            <pc:docMk/>
            <pc:sldMk cId="0" sldId="270"/>
            <ac:spMk id="1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9.149" v="116" actId="108"/>
          <ac:spMkLst>
            <pc:docMk/>
            <pc:sldMk cId="0" sldId="270"/>
            <ac:spMk id="26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9.741" v="117" actId="108"/>
          <ac:spMkLst>
            <pc:docMk/>
            <pc:sldMk cId="0" sldId="270"/>
            <ac:spMk id="33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2.509" v="110" actId="108"/>
          <ac:spMkLst>
            <pc:docMk/>
            <pc:sldMk cId="0" sldId="270"/>
            <ac:spMk id="40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5.507" v="112" actId="108"/>
          <ac:spMkLst>
            <pc:docMk/>
            <pc:sldMk cId="0" sldId="270"/>
            <ac:spMk id="41" creationId="{00000000-0000-0000-0000-000000000000}"/>
          </ac:spMkLst>
        </pc:spChg>
      </pc:sldChg>
      <pc:sldChg chg="addSp delSp modSp mod">
        <pc:chgData name="BISHWARUP BISWAS" userId="b1b10b90cd7ae38c" providerId="LiveId" clId="{BE17FBC0-7DD6-4654-983B-69437D6DE70B}" dt="2026-08-20T16:43:00.434" v="128" actId="208"/>
        <pc:sldMkLst>
          <pc:docMk/>
          <pc:sldMk cId="0" sldId="271"/>
        </pc:sldMkLst>
        <pc:spChg chg="mod">
          <ac:chgData name="BISHWARUP BISWAS" userId="b1b10b90cd7ae38c" providerId="LiveId" clId="{BE17FBC0-7DD6-4654-983B-69437D6DE70B}" dt="2026-08-20T16:26:30.027" v="19" actId="1582"/>
          <ac:spMkLst>
            <pc:docMk/>
            <pc:sldMk cId="0" sldId="271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43:00.434" v="128" actId="208"/>
          <ac:spMkLst>
            <pc:docMk/>
            <pc:sldMk cId="0" sldId="271"/>
            <ac:spMk id="8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42:49.771" v="127" actId="20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2.384" v="20" actId="108"/>
          <ac:spMkLst>
            <pc:docMk/>
            <pc:sldMk cId="0" sldId="271"/>
            <ac:spMk id="22" creationId="{00000000-0000-0000-0000-000000000000}"/>
          </ac:spMkLst>
        </pc:spChg>
        <pc:spChg chg="del mod">
          <ac:chgData name="BISHWARUP BISWAS" userId="b1b10b90cd7ae38c" providerId="LiveId" clId="{BE17FBC0-7DD6-4654-983B-69437D6DE70B}" dt="2026-08-20T16:26:56.427" v="32" actId="478"/>
          <ac:spMkLst>
            <pc:docMk/>
            <pc:sldMk cId="0" sldId="271"/>
            <ac:spMk id="28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3.105" v="21" actId="108"/>
          <ac:spMkLst>
            <pc:docMk/>
            <pc:sldMk cId="0" sldId="271"/>
            <ac:spMk id="29" creationId="{00000000-0000-0000-0000-000000000000}"/>
          </ac:spMkLst>
        </pc:spChg>
        <pc:spChg chg="del mod">
          <ac:chgData name="BISHWARUP BISWAS" userId="b1b10b90cd7ae38c" providerId="LiveId" clId="{BE17FBC0-7DD6-4654-983B-69437D6DE70B}" dt="2026-08-20T16:29:35.640" v="50" actId="478"/>
          <ac:spMkLst>
            <pc:docMk/>
            <pc:sldMk cId="0" sldId="271"/>
            <ac:spMk id="35" creationId="{00000000-0000-0000-0000-000000000000}"/>
          </ac:spMkLst>
        </pc:spChg>
        <pc:spChg chg="add del mod">
          <ac:chgData name="BISHWARUP BISWAS" userId="b1b10b90cd7ae38c" providerId="LiveId" clId="{BE17FBC0-7DD6-4654-983B-69437D6DE70B}" dt="2026-08-20T16:29:31.570" v="48" actId="478"/>
          <ac:spMkLst>
            <pc:docMk/>
            <pc:sldMk cId="0" sldId="271"/>
            <ac:spMk id="36" creationId="{00000000-0000-0000-0000-000000000000}"/>
          </ac:spMkLst>
        </pc:spChg>
        <pc:spChg chg="del mod">
          <ac:chgData name="BISHWARUP BISWAS" userId="b1b10b90cd7ae38c" providerId="LiveId" clId="{BE17FBC0-7DD6-4654-983B-69437D6DE70B}" dt="2026-08-20T16:29:46.920" v="52" actId="478"/>
          <ac:spMkLst>
            <pc:docMk/>
            <pc:sldMk cId="0" sldId="271"/>
            <ac:spMk id="42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4.249" v="23" actId="108"/>
          <ac:spMkLst>
            <pc:docMk/>
            <pc:sldMk cId="0" sldId="271"/>
            <ac:spMk id="43" creationId="{00000000-0000-0000-0000-000000000000}"/>
          </ac:spMkLst>
        </pc:spChg>
        <pc:spChg chg="del">
          <ac:chgData name="BISHWARUP BISWAS" userId="b1b10b90cd7ae38c" providerId="LiveId" clId="{BE17FBC0-7DD6-4654-983B-69437D6DE70B}" dt="2026-08-20T16:29:51.408" v="53" actId="478"/>
          <ac:spMkLst>
            <pc:docMk/>
            <pc:sldMk cId="0" sldId="271"/>
            <ac:spMk id="4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4.984" v="24" actId="108"/>
          <ac:spMkLst>
            <pc:docMk/>
            <pc:sldMk cId="0" sldId="271"/>
            <ac:spMk id="50" creationId="{00000000-0000-0000-0000-000000000000}"/>
          </ac:spMkLst>
        </pc:spChg>
        <pc:spChg chg="del mod">
          <ac:chgData name="BISHWARUP BISWAS" userId="b1b10b90cd7ae38c" providerId="LiveId" clId="{BE17FBC0-7DD6-4654-983B-69437D6DE70B}" dt="2026-08-20T16:31:05.575" v="55" actId="478"/>
          <ac:spMkLst>
            <pc:docMk/>
            <pc:sldMk cId="0" sldId="271"/>
            <ac:spMk id="56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5.515" v="25" actId="108"/>
          <ac:spMkLst>
            <pc:docMk/>
            <pc:sldMk cId="0" sldId="271"/>
            <ac:spMk id="57" creationId="{00000000-0000-0000-0000-000000000000}"/>
          </ac:spMkLst>
        </pc:spChg>
        <pc:spChg chg="del">
          <ac:chgData name="BISHWARUP BISWAS" userId="b1b10b90cd7ae38c" providerId="LiveId" clId="{BE17FBC0-7DD6-4654-983B-69437D6DE70B}" dt="2026-08-20T16:31:09.229" v="56" actId="478"/>
          <ac:spMkLst>
            <pc:docMk/>
            <pc:sldMk cId="0" sldId="271"/>
            <ac:spMk id="63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6.027" v="26" actId="108"/>
          <ac:spMkLst>
            <pc:docMk/>
            <pc:sldMk cId="0" sldId="271"/>
            <ac:spMk id="64" creationId="{00000000-0000-0000-0000-000000000000}"/>
          </ac:spMkLst>
        </pc:spChg>
        <pc:spChg chg="del">
          <ac:chgData name="BISHWARUP BISWAS" userId="b1b10b90cd7ae38c" providerId="LiveId" clId="{BE17FBC0-7DD6-4654-983B-69437D6DE70B}" dt="2026-08-20T16:26:39.592" v="27" actId="478"/>
          <ac:spMkLst>
            <pc:docMk/>
            <pc:sldMk cId="0" sldId="271"/>
            <ac:spMk id="6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1:21.657" v="58" actId="14861"/>
          <ac:spMkLst>
            <pc:docMk/>
            <pc:sldMk cId="0" sldId="271"/>
            <ac:spMk id="74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1:25.811" v="59" actId="108"/>
          <ac:spMkLst>
            <pc:docMk/>
            <pc:sldMk cId="0" sldId="271"/>
            <ac:spMk id="7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1:26.218" v="60" actId="108"/>
          <ac:spMkLst>
            <pc:docMk/>
            <pc:sldMk cId="0" sldId="271"/>
            <ac:spMk id="84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3:45.181" v="94" actId="14861"/>
          <ac:spMkLst>
            <pc:docMk/>
            <pc:sldMk cId="0" sldId="271"/>
            <ac:spMk id="8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3:52.488" v="95" actId="108"/>
          <ac:spMkLst>
            <pc:docMk/>
            <pc:sldMk cId="0" sldId="271"/>
            <ac:spMk id="93" creationId="{00000000-0000-0000-0000-000000000000}"/>
          </ac:spMkLst>
        </pc:spChg>
        <pc:picChg chg="add del mod">
          <ac:chgData name="BISHWARUP BISWAS" userId="b1b10b90cd7ae38c" providerId="LiveId" clId="{BE17FBC0-7DD6-4654-983B-69437D6DE70B}" dt="2026-08-20T16:32:37.813" v="76" actId="478"/>
          <ac:picMkLst>
            <pc:docMk/>
            <pc:sldMk cId="0" sldId="271"/>
            <ac:picMk id="102" creationId="{4F4F4AD0-F5EB-1B89-F7B4-7276D857D578}"/>
          </ac:picMkLst>
        </pc:picChg>
        <pc:picChg chg="add del mod">
          <ac:chgData name="BISHWARUP BISWAS" userId="b1b10b90cd7ae38c" providerId="LiveId" clId="{BE17FBC0-7DD6-4654-983B-69437D6DE70B}" dt="2026-08-20T16:32:13.106" v="73" actId="22"/>
          <ac:picMkLst>
            <pc:docMk/>
            <pc:sldMk cId="0" sldId="271"/>
            <ac:picMk id="105" creationId="{2BE78C71-AE67-34C8-B748-79E9A1125D3D}"/>
          </ac:picMkLst>
        </pc:picChg>
        <pc:picChg chg="add mod">
          <ac:chgData name="BISHWARUP BISWAS" userId="b1b10b90cd7ae38c" providerId="LiveId" clId="{BE17FBC0-7DD6-4654-983B-69437D6DE70B}" dt="2026-08-20T16:33:09.483" v="83" actId="1076"/>
          <ac:picMkLst>
            <pc:docMk/>
            <pc:sldMk cId="0" sldId="271"/>
            <ac:picMk id="107" creationId="{8199B08D-C19E-7BA7-CDE6-8CB8F874136B}"/>
          </ac:picMkLst>
        </pc:picChg>
        <pc:picChg chg="add mod">
          <ac:chgData name="BISHWARUP BISWAS" userId="b1b10b90cd7ae38c" providerId="LiveId" clId="{BE17FBC0-7DD6-4654-983B-69437D6DE70B}" dt="2026-08-20T16:33:17.092" v="85" actId="1076"/>
          <ac:picMkLst>
            <pc:docMk/>
            <pc:sldMk cId="0" sldId="271"/>
            <ac:picMk id="109" creationId="{0D975109-A65D-4AC6-01D3-AFA812F868F0}"/>
          </ac:picMkLst>
        </pc:picChg>
        <pc:picChg chg="add mod">
          <ac:chgData name="BISHWARUP BISWAS" userId="b1b10b90cd7ae38c" providerId="LiveId" clId="{BE17FBC0-7DD6-4654-983B-69437D6DE70B}" dt="2026-08-20T16:33:21.475" v="87" actId="1076"/>
          <ac:picMkLst>
            <pc:docMk/>
            <pc:sldMk cId="0" sldId="271"/>
            <ac:picMk id="111" creationId="{B9CDF7AB-EB82-87C5-9A2B-7117046A2A1F}"/>
          </ac:picMkLst>
        </pc:picChg>
        <pc:picChg chg="add mod">
          <ac:chgData name="BISHWARUP BISWAS" userId="b1b10b90cd7ae38c" providerId="LiveId" clId="{BE17FBC0-7DD6-4654-983B-69437D6DE70B}" dt="2026-08-20T16:33:24.683" v="89" actId="1076"/>
          <ac:picMkLst>
            <pc:docMk/>
            <pc:sldMk cId="0" sldId="271"/>
            <ac:picMk id="113" creationId="{3B06892A-6CBE-2C0E-4707-5BCD0484AC23}"/>
          </ac:picMkLst>
        </pc:picChg>
        <pc:picChg chg="add mod">
          <ac:chgData name="BISHWARUP BISWAS" userId="b1b10b90cd7ae38c" providerId="LiveId" clId="{BE17FBC0-7DD6-4654-983B-69437D6DE70B}" dt="2026-08-20T16:33:28.635" v="91" actId="1076"/>
          <ac:picMkLst>
            <pc:docMk/>
            <pc:sldMk cId="0" sldId="271"/>
            <ac:picMk id="115" creationId="{3322CBD7-186F-B37E-1869-B82871FC596A}"/>
          </ac:picMkLst>
        </pc:picChg>
        <pc:picChg chg="add mod">
          <ac:chgData name="BISHWARUP BISWAS" userId="b1b10b90cd7ae38c" providerId="LiveId" clId="{BE17FBC0-7DD6-4654-983B-69437D6DE70B}" dt="2026-08-20T16:33:31.908" v="93" actId="1076"/>
          <ac:picMkLst>
            <pc:docMk/>
            <pc:sldMk cId="0" sldId="271"/>
            <ac:picMk id="117" creationId="{D8645560-A871-8AB6-39AA-16E435A2B0A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44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6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2402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Engine Discovers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High-Lift Hierarchical Segments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931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walkthrough of end-to-end rule mining pipeline.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briefing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01400" y="6309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 today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581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RapidSegment 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and positioning vs black-box models and decision trees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1581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table to hierarchical segments and production SQL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74320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2920" y="274320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2971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2999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Binning &amp; variable selection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383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features are ranked and discretized (Optimal vs Naive)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0" y="2971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2999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Combinations &amp; constraints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3383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1-/2-/3-way rules are generated, pruned, and filtered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16052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7724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08760" y="4416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&amp; hierarchy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4800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selection, residual update, final ordered segments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26480" y="416052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26480" y="416052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32320" y="4416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&amp; control levers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4800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filters, scorecard, and the parameters that matter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segments that maximise lift over baseline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sentence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is a combinatorial heuristic engine that discovers high-lift predictive segments and turns them into production-ready SQL rules and scorecards.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designed for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Credit risk, collections, marketing response, fraud flags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Teams that need explainable rules, not black boxes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Direct deployment into SQL / policy engines / scorecards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28016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37960" y="1463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Decision Trees / 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1214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High-lift, business-ready segments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2715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hierarchical rules + 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310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feature reuse across segments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39044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filters + integer weights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fit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44988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Policy, scorecards, rules engines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—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full data to hierarchical segments &amp; scores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2286000" cy="13716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full · shrinks after each segment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3108960" cy="2240280"/>
          </a:xfrm>
          <a:prstGeom prst="roundRect">
            <a:avLst>
              <a:gd name="adj" fmla="val 2449"/>
            </a:avLst>
          </a:prstGeom>
          <a:solidFill>
            <a:srgbClr val="DB001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population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15087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1828800"/>
            <a:ext cx="27432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Segment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1920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2688" y="2286000"/>
            <a:ext cx="2377440" cy="1097280"/>
          </a:xfrm>
          <a:prstGeom prst="roundRect">
            <a:avLst>
              <a:gd name="adj" fmla="val 4167"/>
            </a:avLst>
          </a:prstGeom>
          <a:solidFill>
            <a:srgbClr val="FFF5F5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Segment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2395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43000" y="274320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2834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Segment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28346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3794760"/>
            <a:ext cx="320040" cy="219456"/>
          </a:xfrm>
          <a:prstGeom prst="downArrow">
            <a:avLst/>
          </a:prstGeom>
          <a:solidFill>
            <a:srgbClr val="DB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96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accepted rule removes matching rows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69080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05156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105656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05656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data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114800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full table;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 after each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is accepted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193792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559552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1051560"/>
            <a:ext cx="201168" cy="201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230368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230368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+ Binning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239512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features by IV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 response rate),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discrete bins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318504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684264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1051560"/>
            <a:ext cx="201168" cy="20116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355080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35508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Combinations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364224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1-, 2-, 3-way rules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Apriori pruning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diversity checks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7443216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7808976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1051560"/>
            <a:ext cx="201168" cy="20116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479792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7479792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filters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7488936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min_sample, min_lift,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min_events must pass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residual data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8567928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51" name="Shape 45"/>
          <p:cNvSpPr/>
          <p:nvPr/>
        </p:nvSpPr>
        <p:spPr>
          <a:xfrm>
            <a:off x="8933688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0" y="1051560"/>
            <a:ext cx="201168" cy="201168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8604504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8604504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1000" dirty="0"/>
          </a:p>
        </p:txBody>
      </p:sp>
      <p:sp>
        <p:nvSpPr>
          <p:cNvPr id="55" name="Text 48"/>
          <p:cNvSpPr/>
          <p:nvPr/>
        </p:nvSpPr>
        <p:spPr>
          <a:xfrm>
            <a:off x="8613648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by sort_priority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(rate x lift x count)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best rule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9692640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58" name="Shape 51"/>
          <p:cNvSpPr/>
          <p:nvPr/>
        </p:nvSpPr>
        <p:spPr>
          <a:xfrm>
            <a:off x="10058400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1552" y="1051560"/>
            <a:ext cx="201168" cy="201168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9729216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61" name="Text 53"/>
          <p:cNvSpPr/>
          <p:nvPr/>
        </p:nvSpPr>
        <p:spPr>
          <a:xfrm>
            <a:off x="9729216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000" dirty="0"/>
          </a:p>
        </p:txBody>
      </p:sp>
      <p:sp>
        <p:nvSpPr>
          <p:cNvPr id="62" name="Text 54"/>
          <p:cNvSpPr/>
          <p:nvPr/>
        </p:nvSpPr>
        <p:spPr>
          <a:xfrm>
            <a:off x="9738360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matching rows;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segment 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priority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10817352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6" name="Shape 58"/>
          <p:cNvSpPr/>
          <p:nvPr/>
        </p:nvSpPr>
        <p:spPr>
          <a:xfrm>
            <a:off x="11183112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6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1051560"/>
            <a:ext cx="201168" cy="201168"/>
          </a:xfrm>
          <a:prstGeom prst="rect">
            <a:avLst/>
          </a:prstGeom>
        </p:spPr>
      </p:pic>
      <p:sp>
        <p:nvSpPr>
          <p:cNvPr id="68" name="Text 59"/>
          <p:cNvSpPr/>
          <p:nvPr/>
        </p:nvSpPr>
        <p:spPr>
          <a:xfrm>
            <a:off x="10853928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69" name="Text 60"/>
          <p:cNvSpPr/>
          <p:nvPr/>
        </p:nvSpPr>
        <p:spPr>
          <a:xfrm>
            <a:off x="10853928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decile</a:t>
            </a:r>
            <a:endParaRPr lang="en-US" sz="1000" dirty="0"/>
          </a:p>
        </p:txBody>
      </p:sp>
      <p:sp>
        <p:nvSpPr>
          <p:cNvPr id="70" name="Text 61"/>
          <p:cNvSpPr/>
          <p:nvPr/>
        </p:nvSpPr>
        <p:spPr>
          <a:xfrm>
            <a:off x="10863072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-&gt; weights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(RR x 100) -&gt; score;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deciles on score &gt; 0</a:t>
            </a:r>
            <a:endParaRPr lang="en-US" sz="900" dirty="0"/>
          </a:p>
        </p:txBody>
      </p:sp>
      <p:sp>
        <p:nvSpPr>
          <p:cNvPr id="71" name="Shape 62"/>
          <p:cNvSpPr/>
          <p:nvPr/>
        </p:nvSpPr>
        <p:spPr>
          <a:xfrm>
            <a:off x="4069080" y="3017520"/>
            <a:ext cx="7726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2" name="Text 63"/>
          <p:cNvSpPr/>
          <p:nvPr/>
        </p:nvSpPr>
        <p:spPr>
          <a:xfrm>
            <a:off x="4206240" y="3108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HIERARCHY</a:t>
            </a:r>
            <a:endParaRPr lang="en-US" sz="1100" dirty="0"/>
          </a:p>
        </p:txBody>
      </p:sp>
      <p:sp>
        <p:nvSpPr>
          <p:cNvPr id="73" name="Text 64"/>
          <p:cNvSpPr/>
          <p:nvPr/>
        </p:nvSpPr>
        <p:spPr>
          <a:xfrm>
            <a:off x="6309360" y="3108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(priority order = discovery order)</a:t>
            </a:r>
            <a:endParaRPr lang="en-US" sz="1100" dirty="0"/>
          </a:p>
        </p:txBody>
      </p:sp>
      <p:sp>
        <p:nvSpPr>
          <p:cNvPr id="74" name="Shape 65"/>
          <p:cNvSpPr/>
          <p:nvPr/>
        </p:nvSpPr>
        <p:spPr>
          <a:xfrm>
            <a:off x="4251960" y="33832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DB001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5" name="Text 66"/>
          <p:cNvSpPr/>
          <p:nvPr/>
        </p:nvSpPr>
        <p:spPr>
          <a:xfrm>
            <a:off x="4343400" y="3438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1</a:t>
            </a:r>
            <a:endParaRPr lang="en-US" sz="1200" dirty="0"/>
          </a:p>
        </p:txBody>
      </p:sp>
      <p:sp>
        <p:nvSpPr>
          <p:cNvPr id="76" name="Text 67"/>
          <p:cNvSpPr/>
          <p:nvPr/>
        </p:nvSpPr>
        <p:spPr>
          <a:xfrm>
            <a:off x="4343400" y="3639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max_dpd &gt;= 60 AND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 &gt;= 0.85</a:t>
            </a:r>
            <a:endParaRPr lang="en-US" sz="1000" dirty="0"/>
          </a:p>
        </p:txBody>
      </p:sp>
      <p:sp>
        <p:nvSpPr>
          <p:cNvPr id="77" name="Text 68"/>
          <p:cNvSpPr/>
          <p:nvPr/>
        </p:nvSpPr>
        <p:spPr>
          <a:xfrm>
            <a:off x="4343400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priority</a:t>
            </a:r>
            <a:endParaRPr lang="en-US" sz="1000" dirty="0"/>
          </a:p>
        </p:txBody>
      </p:sp>
      <p:sp>
        <p:nvSpPr>
          <p:cNvPr id="78" name="Text 69"/>
          <p:cNvSpPr/>
          <p:nvPr/>
        </p:nvSpPr>
        <p:spPr>
          <a:xfrm>
            <a:off x="6007608" y="371246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100" dirty="0"/>
          </a:p>
        </p:txBody>
      </p:sp>
      <p:sp>
        <p:nvSpPr>
          <p:cNvPr id="79" name="Shape 70"/>
          <p:cNvSpPr/>
          <p:nvPr/>
        </p:nvSpPr>
        <p:spPr>
          <a:xfrm>
            <a:off x="6099048" y="33832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DB001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0" name="Text 71"/>
          <p:cNvSpPr/>
          <p:nvPr/>
        </p:nvSpPr>
        <p:spPr>
          <a:xfrm>
            <a:off x="6190488" y="3438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</a:t>
            </a:r>
            <a:endParaRPr lang="en-US" sz="1200" dirty="0"/>
          </a:p>
        </p:txBody>
      </p:sp>
      <p:sp>
        <p:nvSpPr>
          <p:cNvPr id="81" name="Text 72"/>
          <p:cNvSpPr/>
          <p:nvPr/>
        </p:nvSpPr>
        <p:spPr>
          <a:xfrm>
            <a:off x="6190488" y="3639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risk_band = High</a:t>
            </a:r>
            <a:endParaRPr lang="en-US" sz="1000" dirty="0"/>
          </a:p>
        </p:txBody>
      </p:sp>
      <p:sp>
        <p:nvSpPr>
          <p:cNvPr id="82" name="Text 73"/>
          <p:cNvSpPr/>
          <p:nvPr/>
        </p:nvSpPr>
        <p:spPr>
          <a:xfrm>
            <a:off x="6190488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 remainder</a:t>
            </a:r>
            <a:endParaRPr lang="en-US" sz="1000" dirty="0"/>
          </a:p>
        </p:txBody>
      </p:sp>
      <p:sp>
        <p:nvSpPr>
          <p:cNvPr id="83" name="Text 74"/>
          <p:cNvSpPr/>
          <p:nvPr/>
        </p:nvSpPr>
        <p:spPr>
          <a:xfrm>
            <a:off x="7848600" y="370332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100" dirty="0"/>
          </a:p>
        </p:txBody>
      </p:sp>
      <p:sp>
        <p:nvSpPr>
          <p:cNvPr id="84" name="Shape 75"/>
          <p:cNvSpPr/>
          <p:nvPr/>
        </p:nvSpPr>
        <p:spPr>
          <a:xfrm>
            <a:off x="7946136" y="33832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DB001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5" name="Text 76"/>
          <p:cNvSpPr/>
          <p:nvPr/>
        </p:nvSpPr>
        <p:spPr>
          <a:xfrm>
            <a:off x="8037576" y="3438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3</a:t>
            </a:r>
            <a:endParaRPr lang="en-US" sz="1200" dirty="0"/>
          </a:p>
        </p:txBody>
      </p:sp>
      <p:sp>
        <p:nvSpPr>
          <p:cNvPr id="86" name="Text 77"/>
          <p:cNvSpPr/>
          <p:nvPr/>
        </p:nvSpPr>
        <p:spPr>
          <a:xfrm>
            <a:off x="8037576" y="3639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 &gt;= 0.90</a:t>
            </a:r>
            <a:endParaRPr lang="en-US" sz="1000" dirty="0"/>
          </a:p>
        </p:txBody>
      </p:sp>
      <p:sp>
        <p:nvSpPr>
          <p:cNvPr id="87" name="Text 78"/>
          <p:cNvSpPr/>
          <p:nvPr/>
        </p:nvSpPr>
        <p:spPr>
          <a:xfrm>
            <a:off x="8037576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 remainder</a:t>
            </a:r>
            <a:endParaRPr lang="en-US" sz="1000" dirty="0"/>
          </a:p>
        </p:txBody>
      </p:sp>
      <p:sp>
        <p:nvSpPr>
          <p:cNvPr id="88" name="Text 79"/>
          <p:cNvSpPr/>
          <p:nvPr/>
        </p:nvSpPr>
        <p:spPr>
          <a:xfrm>
            <a:off x="9695688" y="370332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100" dirty="0"/>
          </a:p>
        </p:txBody>
      </p:sp>
      <p:sp>
        <p:nvSpPr>
          <p:cNvPr id="89" name="Shape 80"/>
          <p:cNvSpPr/>
          <p:nvPr/>
        </p:nvSpPr>
        <p:spPr>
          <a:xfrm>
            <a:off x="9793224" y="3383280"/>
            <a:ext cx="1737360" cy="868680"/>
          </a:xfrm>
          <a:prstGeom prst="roundRect">
            <a:avLst>
              <a:gd name="adj" fmla="val 5263"/>
            </a:avLst>
          </a:prstGeom>
          <a:solidFill>
            <a:schemeClr val="tx1">
              <a:lumMod val="50000"/>
              <a:lumOff val="50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0" name="Text 81"/>
          <p:cNvSpPr/>
          <p:nvPr/>
        </p:nvSpPr>
        <p:spPr>
          <a:xfrm>
            <a:off x="9884664" y="3438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endParaRPr lang="en-US" sz="1200" dirty="0"/>
          </a:p>
        </p:txBody>
      </p:sp>
      <p:sp>
        <p:nvSpPr>
          <p:cNvPr id="91" name="Text 82"/>
          <p:cNvSpPr/>
          <p:nvPr/>
        </p:nvSpPr>
        <p:spPr>
          <a:xfrm>
            <a:off x="9884664" y="3639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else</a:t>
            </a:r>
            <a:endParaRPr lang="en-US" sz="1000" dirty="0"/>
          </a:p>
        </p:txBody>
      </p:sp>
      <p:sp>
        <p:nvSpPr>
          <p:cNvPr id="92" name="Text 83"/>
          <p:cNvSpPr/>
          <p:nvPr/>
        </p:nvSpPr>
        <p:spPr>
          <a:xfrm>
            <a:off x="9884664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</p:txBody>
      </p:sp>
      <p:sp>
        <p:nvSpPr>
          <p:cNvPr id="93" name="Shape 84"/>
          <p:cNvSpPr/>
          <p:nvPr/>
        </p:nvSpPr>
        <p:spPr>
          <a:xfrm>
            <a:off x="365760" y="457200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4" name="Shape 85"/>
          <p:cNvSpPr/>
          <p:nvPr/>
        </p:nvSpPr>
        <p:spPr>
          <a:xfrm>
            <a:off x="365760" y="457200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95" name="Text 86"/>
          <p:cNvSpPr/>
          <p:nvPr/>
        </p:nvSpPr>
        <p:spPr>
          <a:xfrm>
            <a:off x="594360" y="4681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100" dirty="0"/>
          </a:p>
        </p:txBody>
      </p:sp>
      <p:sp>
        <p:nvSpPr>
          <p:cNvPr id="96" name="Text 87"/>
          <p:cNvSpPr/>
          <p:nvPr/>
        </p:nvSpPr>
        <p:spPr>
          <a:xfrm>
            <a:off x="594360" y="49377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best rule on what's left  -&gt;  lock it in  -&gt;  remove those customers  -&gt;  repeat.</a:t>
            </a:r>
            <a:endParaRPr lang="en-US" sz="1300" dirty="0"/>
          </a:p>
        </p:txBody>
      </p:sp>
      <p:sp>
        <p:nvSpPr>
          <p:cNvPr id="97" name="Text 88"/>
          <p:cNvSpPr/>
          <p:nvPr/>
        </p:nvSpPr>
        <p:spPr>
          <a:xfrm>
            <a:off x="594360" y="5212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score the full dataset: segment flags x weights (response rate x 100) -&gt; customer score -&gt; deciles on score &gt; 0 only.</a:t>
            </a:r>
            <a:endParaRPr lang="en-US" sz="1300" dirty="0"/>
          </a:p>
        </p:txBody>
      </p:sp>
      <p:sp>
        <p:nvSpPr>
          <p:cNvPr id="98" name="Text 89"/>
          <p:cNvSpPr/>
          <p:nvPr/>
        </p:nvSpPr>
        <p:spPr>
          <a:xfrm>
            <a:off x="594360" y="5486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discovery becomes priority in the hierarchy (SQL CASE WHEN). Scoring is independent of residual order.</a:t>
            </a:r>
            <a:endParaRPr lang="en-US" sz="1200" dirty="0"/>
          </a:p>
        </p:txBody>
      </p:sp>
      <p:sp>
        <p:nvSpPr>
          <p:cNvPr id="99" name="Text 90"/>
          <p:cNvSpPr/>
          <p:nvPr/>
        </p:nvSpPr>
        <p:spPr>
          <a:xfrm>
            <a:off x="365760" y="5989320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Binning  -&gt;  Combinations  -&gt;  Hard constraints  -&gt;  Ranking  -&gt;  Residual shrink  -&gt;  Hierarchy  -&gt;  Score &amp; decile</a:t>
            </a:r>
            <a:endParaRPr lang="en-US" sz="1100" dirty="0"/>
          </a:p>
        </p:txBody>
      </p:sp>
      <p:sp>
        <p:nvSpPr>
          <p:cNvPr id="100" name="Text 91"/>
          <p:cNvSpPr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900" dirty="0"/>
          </a:p>
        </p:txBody>
      </p:sp>
      <p:sp>
        <p:nvSpPr>
          <p:cNvPr id="103" name="Text 23">
            <a:extLst>
              <a:ext uri="{FF2B5EF4-FFF2-40B4-BE49-F238E27FC236}">
                <a16:creationId xmlns:a16="http://schemas.microsoft.com/office/drawing/2014/main" id="{FFA94A08-6232-B4D6-9B0C-6A599C48943A}"/>
              </a:ext>
            </a:extLst>
          </p:cNvPr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107" name="Graphic 106" descr="Line arrow: Straight with solid fill">
            <a:extLst>
              <a:ext uri="{FF2B5EF4-FFF2-40B4-BE49-F238E27FC236}">
                <a16:creationId xmlns:a16="http://schemas.microsoft.com/office/drawing/2014/main" id="{8199B08D-C19E-7BA7-CDE6-8CB8F87413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5000498" y="1801114"/>
            <a:ext cx="329184" cy="329184"/>
          </a:xfrm>
          <a:prstGeom prst="rect">
            <a:avLst/>
          </a:prstGeom>
        </p:spPr>
      </p:pic>
      <p:pic>
        <p:nvPicPr>
          <p:cNvPr id="109" name="Graphic 108" descr="Line arrow: Straight with solid fill">
            <a:extLst>
              <a:ext uri="{FF2B5EF4-FFF2-40B4-BE49-F238E27FC236}">
                <a16:creationId xmlns:a16="http://schemas.microsoft.com/office/drawing/2014/main" id="{0D975109-A65D-4AC6-01D3-AFA812F86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6117336" y="1801114"/>
            <a:ext cx="329184" cy="329184"/>
          </a:xfrm>
          <a:prstGeom prst="rect">
            <a:avLst/>
          </a:prstGeom>
        </p:spPr>
      </p:pic>
      <p:pic>
        <p:nvPicPr>
          <p:cNvPr id="111" name="Graphic 110" descr="Line arrow: Straight with solid fill">
            <a:extLst>
              <a:ext uri="{FF2B5EF4-FFF2-40B4-BE49-F238E27FC236}">
                <a16:creationId xmlns:a16="http://schemas.microsoft.com/office/drawing/2014/main" id="{B9CDF7AB-EB82-87C5-9A2B-7117046A2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7260336" y="1801114"/>
            <a:ext cx="329184" cy="329184"/>
          </a:xfrm>
          <a:prstGeom prst="rect">
            <a:avLst/>
          </a:prstGeom>
        </p:spPr>
      </p:pic>
      <p:pic>
        <p:nvPicPr>
          <p:cNvPr id="113" name="Graphic 112" descr="Line arrow: Straight with solid fill">
            <a:extLst>
              <a:ext uri="{FF2B5EF4-FFF2-40B4-BE49-F238E27FC236}">
                <a16:creationId xmlns:a16="http://schemas.microsoft.com/office/drawing/2014/main" id="{3B06892A-6CBE-2C0E-4707-5BCD0484AC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8394192" y="1801114"/>
            <a:ext cx="329184" cy="329184"/>
          </a:xfrm>
          <a:prstGeom prst="rect">
            <a:avLst/>
          </a:prstGeom>
        </p:spPr>
      </p:pic>
      <p:pic>
        <p:nvPicPr>
          <p:cNvPr id="115" name="Graphic 114" descr="Line arrow: Straight with solid fill">
            <a:extLst>
              <a:ext uri="{FF2B5EF4-FFF2-40B4-BE49-F238E27FC236}">
                <a16:creationId xmlns:a16="http://schemas.microsoft.com/office/drawing/2014/main" id="{3322CBD7-186F-B37E-1869-B82871FC5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9491472" y="1807210"/>
            <a:ext cx="329184" cy="329184"/>
          </a:xfrm>
          <a:prstGeom prst="rect">
            <a:avLst/>
          </a:prstGeom>
        </p:spPr>
      </p:pic>
      <p:pic>
        <p:nvPicPr>
          <p:cNvPr id="117" name="Graphic 116" descr="Line arrow: Straight with solid fill">
            <a:extLst>
              <a:ext uri="{FF2B5EF4-FFF2-40B4-BE49-F238E27FC236}">
                <a16:creationId xmlns:a16="http://schemas.microsoft.com/office/drawing/2014/main" id="{D8645560-A871-8AB6-39AA-16E435A2B0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10625328" y="180721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BINNING &amp; SELECTION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raw features into ranked, discrete building blocks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440680" cy="429768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41148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298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Binning (default)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optbinning (CART or Quantile pre-binning)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Value (IV) or Response Rate per feature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bins are auto merged to optimize IV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are auto merged to optimize IV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3840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Target-aware cuts → usually higher lift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of cuts matters more than speed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1234440"/>
            <a:ext cx="5440680" cy="429768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72200" y="1234440"/>
            <a:ext cx="5440680" cy="4114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0" y="1298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Binning (fast path)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1812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DuckDB SQL (QUANTILE_CONT)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1812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Value (IV) or Response Rate per feature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1812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Equal-frequency quantiles (5,10,20…)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1812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bin per distinct value + Missing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18120" y="3840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fast; supports adjacent-bin expansion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1812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data or stable, interpretable bins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309466" y="6537960"/>
            <a:ext cx="3325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COMBINATIONS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Apriori-style search: only successful lower-order rules grow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743200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Top N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highest-IV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 response-rate)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enter the 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B0011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743200" cy="45720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2044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1-way rules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Single-bin conditions.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prune that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from higher orders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B0011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63640" y="12801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63640" y="1280160"/>
            <a:ext cx="2743200" cy="45720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2-way rules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of surviving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(AND only).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filter optional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1540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B0011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44000" y="12801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44000" y="1280160"/>
            <a:ext cx="2743200" cy="45720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28116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3-way rules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Triples from surviving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pairs. Same hard filters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ranking apply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 that keep search trackable and business-friendly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would break Apriori pruning and explode the search space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groups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diversity: block rules that mix variables from the same business group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max_feature_reuse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how many times one feature can appear across the final segment list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hops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merge of neighbouring bins to recover higher-event rules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ACF1B4-2C10-FB0B-0AD5-848020A3DFD2}"/>
              </a:ext>
            </a:extLst>
          </p:cNvPr>
          <p:cNvSpPr txBox="1"/>
          <p:nvPr/>
        </p:nvSpPr>
        <p:spPr>
          <a:xfrm>
            <a:off x="9657166" y="3455600"/>
            <a:ext cx="2555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i="1" dirty="0"/>
              <a:t>Apriori-style pruning working </a:t>
            </a:r>
            <a:r>
              <a:rPr lang="en-IN" sz="1200" i="1" dirty="0">
                <a:hlinkClick r:id="rId3" action="ppaction://hlinksldjump"/>
              </a:rPr>
              <a:t>example</a:t>
            </a:r>
            <a:endParaRPr lang="en-IN" sz="12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CONSTRAINTS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must clear absolute floors before ranking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3152" cy="96012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5270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min_sample_size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1737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row count in the residual that the rule must cover. Protects against tiny, unstable cells.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2286000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02920" y="2286000"/>
            <a:ext cx="73152" cy="96012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77240" y="2468880"/>
            <a:ext cx="594360" cy="59436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57860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2468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min_lift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00200" y="2788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response rate must be at least this multiple of the current residual base rate.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02920" y="3337560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02920" y="3337560"/>
            <a:ext cx="73152" cy="96012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77240" y="3520440"/>
            <a:ext cx="594360" cy="59436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63016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520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min_events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00200" y="3840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number of positive target events inside the rule. Ensures statistical credibility.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02920" y="4389120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502920" y="4389120"/>
            <a:ext cx="73152" cy="96012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68172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4572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reuse / diversity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600200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max_feature_reuse and optional group diversity stop the same variables dominating every segment.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THE CHAMPION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sort_priority decides which surviving rule wins each iteration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and common ranking keys (first dimension is primary)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rate_lift_count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— prefer highest response rate, then lift, then volume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1155680" cy="4572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lift_count_rate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6052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lift-first view of portfolio impact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11155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count_lift_rate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Volume-first when coverage is the business priority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11155680" cy="4572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events_lift_rate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Event-count first (good for rare-event targets)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11155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rate_events_lift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052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purity + event mass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297680"/>
            <a:ext cx="11155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846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param_grid is supplied, the engine evaluates several (min_sample_size, min_lift) pairs per iteration. Each pair produces a candidate; the global champion is still selected by the same sort_priority. This lets the model adapt thresholds as the residual base rate and volume change.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HIERARCHICAL SEGMENTS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discovery = priority order in the final assignment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3990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2376" y="1874520"/>
            <a:ext cx="64008" cy="228600"/>
          </a:xfrm>
          <a:prstGeom prst="rect">
            <a:avLst/>
          </a:prstGeom>
          <a:solidFill>
            <a:srgbClr val="F5C6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344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champion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is stored with SQL filter, count, rate, lift measured on residual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2376" y="2651760"/>
            <a:ext cx="64008" cy="228600"/>
          </a:xfrm>
          <a:prstGeom prst="rect">
            <a:avLst/>
          </a:prstGeom>
          <a:solidFill>
            <a:srgbClr val="F5C6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344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matches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377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updated with NULL-safe logic: WHERE NOT (rule) OR rule IS NULL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953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2376" y="3429000"/>
            <a:ext cx="64008" cy="228600"/>
          </a:xfrm>
          <a:prstGeom prst="rect">
            <a:avLst/>
          </a:prstGeom>
          <a:solidFill>
            <a:srgbClr val="F5C6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iteration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154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IV, bins, combinations re-computed on the smaller residual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730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2376" y="4206240"/>
            <a:ext cx="64008" cy="228600"/>
          </a:xfrm>
          <a:prstGeom prst="rect">
            <a:avLst/>
          </a:prstGeom>
          <a:solidFill>
            <a:srgbClr val="F5C6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2344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conditions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3931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max_segments reached, or no rule clears hard constraints, or volume too low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43484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4507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coverage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4709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WHEN hierarchy applied back to original data for true counts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THE FINAL DATASET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      Scores     Deciles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2560320" cy="13716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60120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06424"/>
            <a:ext cx="420624" cy="420624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24712" y="1106424"/>
            <a:ext cx="420624" cy="420624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120700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1051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dataset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every row on the original population (not the residual).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1764792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911096"/>
            <a:ext cx="420624" cy="420624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1965960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24712" y="1911096"/>
            <a:ext cx="420624" cy="420624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2011680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7360" y="18562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flags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737360" y="21305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segment SQL runs independently → binary column (0 / 1) per segment.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11480" y="2569464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2715768"/>
            <a:ext cx="420624" cy="420624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2770632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1124712" y="2715768"/>
            <a:ext cx="420624" cy="420624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" y="281635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737360" y="26609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weights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737360" y="29352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segment response rate × 100, rounded. Higher rate → higher weight.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11480" y="3374136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8" name="Text 23"/>
          <p:cNvSpPr/>
          <p:nvPr/>
        </p:nvSpPr>
        <p:spPr>
          <a:xfrm>
            <a:off x="548640" y="3575304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1124712" y="3520440"/>
            <a:ext cx="420624" cy="420624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296" y="3621024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737360" y="34655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score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737360" y="37398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sum of weights for every segment flag that is 1 on that row.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411480" y="4178808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48640" y="4325112"/>
            <a:ext cx="420624" cy="420624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35" name="Text 29"/>
          <p:cNvSpPr/>
          <p:nvPr/>
        </p:nvSpPr>
        <p:spPr>
          <a:xfrm>
            <a:off x="548640" y="4379976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1124712" y="4325112"/>
            <a:ext cx="420624" cy="420624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296" y="4425696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737360" y="4270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Deciles (score &gt; 0 only)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1737360" y="4544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active scores into 10 buckets. Zero-score rows are excluded from thresholds.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7315200" y="960120"/>
            <a:ext cx="4434840" cy="493776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7315200" y="960120"/>
            <a:ext cx="4434840" cy="41148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2" name="Text 35"/>
          <p:cNvSpPr/>
          <p:nvPr/>
        </p:nvSpPr>
        <p:spPr>
          <a:xfrm>
            <a:off x="7498080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7498080" y="1508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weights (from response rate)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7498080" y="1828800"/>
            <a:ext cx="4069080" cy="29260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5" name="Text 38"/>
          <p:cNvSpPr/>
          <p:nvPr/>
        </p:nvSpPr>
        <p:spPr>
          <a:xfrm>
            <a:off x="7589520" y="1874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886968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Resp. rate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102412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758952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1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886968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300" dirty="0"/>
          </a:p>
        </p:txBody>
      </p:sp>
      <p:sp>
        <p:nvSpPr>
          <p:cNvPr id="50" name="Text 43"/>
          <p:cNvSpPr/>
          <p:nvPr/>
        </p:nvSpPr>
        <p:spPr>
          <a:xfrm>
            <a:off x="1024128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51" name="Text 44"/>
          <p:cNvSpPr/>
          <p:nvPr/>
        </p:nvSpPr>
        <p:spPr>
          <a:xfrm>
            <a:off x="758952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</a:t>
            </a:r>
            <a:endParaRPr lang="en-US" sz="1300" dirty="0"/>
          </a:p>
        </p:txBody>
      </p:sp>
      <p:sp>
        <p:nvSpPr>
          <p:cNvPr id="52" name="Text 45"/>
          <p:cNvSpPr/>
          <p:nvPr/>
        </p:nvSpPr>
        <p:spPr>
          <a:xfrm>
            <a:off x="886968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300" dirty="0"/>
          </a:p>
        </p:txBody>
      </p:sp>
      <p:sp>
        <p:nvSpPr>
          <p:cNvPr id="53" name="Text 46"/>
          <p:cNvSpPr/>
          <p:nvPr/>
        </p:nvSpPr>
        <p:spPr>
          <a:xfrm>
            <a:off x="1024128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54" name="Text 47"/>
          <p:cNvSpPr/>
          <p:nvPr/>
        </p:nvSpPr>
        <p:spPr>
          <a:xfrm>
            <a:off x="758952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3</a:t>
            </a:r>
            <a:endParaRPr lang="en-US" sz="1300" dirty="0"/>
          </a:p>
        </p:txBody>
      </p:sp>
      <p:sp>
        <p:nvSpPr>
          <p:cNvPr id="55" name="Text 48"/>
          <p:cNvSpPr/>
          <p:nvPr/>
        </p:nvSpPr>
        <p:spPr>
          <a:xfrm>
            <a:off x="8869680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1024128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57" name="Shape 50"/>
          <p:cNvSpPr/>
          <p:nvPr/>
        </p:nvSpPr>
        <p:spPr>
          <a:xfrm>
            <a:off x="7498080" y="3200400"/>
            <a:ext cx="4069080" cy="1097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8" name="Text 51"/>
          <p:cNvSpPr/>
          <p:nvPr/>
        </p:nvSpPr>
        <p:spPr>
          <a:xfrm>
            <a:off x="7498080" y="3337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customer example</a:t>
            </a:r>
            <a:endParaRPr lang="en-US" sz="1200" dirty="0"/>
          </a:p>
        </p:txBody>
      </p:sp>
      <p:sp>
        <p:nvSpPr>
          <p:cNvPr id="59" name="Text 52"/>
          <p:cNvSpPr/>
          <p:nvPr/>
        </p:nvSpPr>
        <p:spPr>
          <a:xfrm>
            <a:off x="75895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1 flag</a:t>
            </a:r>
            <a:endParaRPr lang="en-US" sz="1300" dirty="0"/>
          </a:p>
        </p:txBody>
      </p:sp>
      <p:sp>
        <p:nvSpPr>
          <p:cNvPr id="60" name="Text 53"/>
          <p:cNvSpPr/>
          <p:nvPr/>
        </p:nvSpPr>
        <p:spPr>
          <a:xfrm>
            <a:off x="932688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1" name="Text 54"/>
          <p:cNvSpPr/>
          <p:nvPr/>
        </p:nvSpPr>
        <p:spPr>
          <a:xfrm>
            <a:off x="100584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+ 18</a:t>
            </a:r>
            <a:endParaRPr lang="en-US" sz="1300" dirty="0"/>
          </a:p>
        </p:txBody>
      </p:sp>
      <p:sp>
        <p:nvSpPr>
          <p:cNvPr id="62" name="Text 55"/>
          <p:cNvSpPr/>
          <p:nvPr/>
        </p:nvSpPr>
        <p:spPr>
          <a:xfrm>
            <a:off x="758952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 flag</a:t>
            </a:r>
            <a:endParaRPr lang="en-US" sz="1300" dirty="0"/>
          </a:p>
        </p:txBody>
      </p:sp>
      <p:sp>
        <p:nvSpPr>
          <p:cNvPr id="63" name="Text 56"/>
          <p:cNvSpPr/>
          <p:nvPr/>
        </p:nvSpPr>
        <p:spPr>
          <a:xfrm>
            <a:off x="93268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4" name="Text 57"/>
          <p:cNvSpPr/>
          <p:nvPr/>
        </p:nvSpPr>
        <p:spPr>
          <a:xfrm>
            <a:off x="1005840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+ 0</a:t>
            </a:r>
            <a:endParaRPr lang="en-US" sz="1300" dirty="0"/>
          </a:p>
        </p:txBody>
      </p:sp>
      <p:sp>
        <p:nvSpPr>
          <p:cNvPr id="65" name="Text 58"/>
          <p:cNvSpPr/>
          <p:nvPr/>
        </p:nvSpPr>
        <p:spPr>
          <a:xfrm>
            <a:off x="75895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3 flag</a:t>
            </a:r>
            <a:endParaRPr lang="en-US" sz="1300" dirty="0"/>
          </a:p>
        </p:txBody>
      </p:sp>
      <p:sp>
        <p:nvSpPr>
          <p:cNvPr id="66" name="Text 59"/>
          <p:cNvSpPr/>
          <p:nvPr/>
        </p:nvSpPr>
        <p:spPr>
          <a:xfrm>
            <a:off x="9326880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7" name="Text 60"/>
          <p:cNvSpPr/>
          <p:nvPr/>
        </p:nvSpPr>
        <p:spPr>
          <a:xfrm>
            <a:off x="1005840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+ 9</a:t>
            </a:r>
            <a:endParaRPr lang="en-US" sz="1300" dirty="0"/>
          </a:p>
        </p:txBody>
      </p:sp>
      <p:sp>
        <p:nvSpPr>
          <p:cNvPr id="68" name="Shape 61"/>
          <p:cNvSpPr/>
          <p:nvPr/>
        </p:nvSpPr>
        <p:spPr>
          <a:xfrm>
            <a:off x="7498080" y="4709160"/>
            <a:ext cx="4069080" cy="502920"/>
          </a:xfrm>
          <a:prstGeom prst="roundRect">
            <a:avLst>
              <a:gd name="adj" fmla="val 7273"/>
            </a:avLst>
          </a:prstGeom>
          <a:solidFill>
            <a:srgbClr val="F5E6E7"/>
          </a:solidFill>
          <a:ln/>
        </p:spPr>
      </p:sp>
      <p:sp>
        <p:nvSpPr>
          <p:cNvPr id="69" name="Text 62"/>
          <p:cNvSpPr/>
          <p:nvPr/>
        </p:nvSpPr>
        <p:spPr>
          <a:xfrm>
            <a:off x="7589520" y="4800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score  =  18 + 0 + 9  =  27</a:t>
            </a:r>
            <a:endParaRPr lang="en-US" sz="1500" dirty="0"/>
          </a:p>
        </p:txBody>
      </p:sp>
      <p:sp>
        <p:nvSpPr>
          <p:cNvPr id="70" name="Text 63"/>
          <p:cNvSpPr/>
          <p:nvPr/>
        </p:nvSpPr>
        <p:spPr>
          <a:xfrm>
            <a:off x="7498080" y="5349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Deciles are cut only on customers with score &gt; 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0 stays in the baseline / inactive pool.</a:t>
            </a:r>
            <a:endParaRPr lang="en-US" sz="1200" dirty="0"/>
          </a:p>
        </p:txBody>
      </p:sp>
      <p:sp>
        <p:nvSpPr>
          <p:cNvPr id="71" name="Text 64"/>
          <p:cNvSpPr/>
          <p:nvPr/>
        </p:nvSpPr>
        <p:spPr>
          <a:xfrm>
            <a:off x="411480" y="64922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900" dirty="0"/>
          </a:p>
        </p:txBody>
      </p:sp>
      <p:pic>
        <p:nvPicPr>
          <p:cNvPr id="74" name="Graphic 73" descr="Line arrow: Straight with solid fill">
            <a:extLst>
              <a:ext uri="{FF2B5EF4-FFF2-40B4-BE49-F238E27FC236}">
                <a16:creationId xmlns:a16="http://schemas.microsoft.com/office/drawing/2014/main" id="{54547144-2C35-A33F-03BE-D7BC46F754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823720" y="297792"/>
            <a:ext cx="335280" cy="493568"/>
          </a:xfrm>
          <a:prstGeom prst="rect">
            <a:avLst/>
          </a:prstGeom>
        </p:spPr>
      </p:pic>
      <p:pic>
        <p:nvPicPr>
          <p:cNvPr id="76" name="Graphic 75" descr="Line arrow: Straight with solid fill">
            <a:extLst>
              <a:ext uri="{FF2B5EF4-FFF2-40B4-BE49-F238E27FC236}">
                <a16:creationId xmlns:a16="http://schemas.microsoft.com/office/drawing/2014/main" id="{5E207F58-CA09-D805-B31D-9BBAF38BB2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3159760" y="307952"/>
            <a:ext cx="335280" cy="493568"/>
          </a:xfrm>
          <a:prstGeom prst="rect">
            <a:avLst/>
          </a:prstGeom>
        </p:spPr>
      </p:pic>
      <p:sp>
        <p:nvSpPr>
          <p:cNvPr id="78" name="Text 23">
            <a:extLst>
              <a:ext uri="{FF2B5EF4-FFF2-40B4-BE49-F238E27FC236}">
                <a16:creationId xmlns:a16="http://schemas.microsoft.com/office/drawing/2014/main" id="{6A2DC371-5A55-7050-8367-BFC0B29623CC}"/>
              </a:ext>
            </a:extLst>
          </p:cNvPr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artefacts from a single extract_segments run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099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filters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ANSI SQL WHERE clauses for every segment. Ready for rules engines, BI tools, or batch scoring.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28016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46520" y="1600200"/>
            <a:ext cx="640080" cy="64008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70992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list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46520" y="23774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segments with count, response rate, lift, and meta (thresholds that produced the rule).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2920" y="342900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77240" y="3749040"/>
            <a:ext cx="640080" cy="64008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85876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weights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77240" y="45262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StrategicSegmentScore converts flags into integer weights from response rate and calibrates deciles.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172200" y="342900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446520" y="3749040"/>
            <a:ext cx="640080" cy="64008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85876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446520" y="45262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explain_feature_journey, explain_no_segments, feature health reports — complete diagnostics.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LEVERS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Full Flexibility on Segment Construction &amp; Selection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top_n_vars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4920" y="1188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features enter the combinatorial search (default 15)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max_segments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691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cap on the length of the hierarchy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min_lift / min_sample_size / min_events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2194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quality floors — the “hard constraints”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697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alternative floors; champion still chosen by sort_priority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sort_priority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3200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preference: rate-first, lift-first, volume-first, events-first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binning_method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3703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optimal_cart / optimal_quantile / naive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max_feature_reuse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4206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one variable from owning every segment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enable_diversity + feature_groups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4709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cross-group combinations only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5212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max_expansion_hops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5212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neighbouring bins to merge (0 = off)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411480" cy="41148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Binning + IV/RR selects a shortlist of predictive features and turns them into discrete bins.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411480" cy="41148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Combinations are grown bottom-up (1 → 2 → 3 way) with Apriori pruning and optional diversity.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411480" cy="41148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337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constraints (sample, lift, events) are absolute gates — ranking only happens among survivors.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411480" cy="41148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4114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champion of each residual is kept; matching rows are removed; the next champion is the next priority.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846320"/>
            <a:ext cx="411480" cy="41148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" y="4892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hierarchical SQL rules + optional scorecard weights — ready for production and audit.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COMBINATIONS —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1-way, 2-way and 3-way rules are built (dummy data)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residual  ·  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rate = 5%   |   Features ranked by IV:  max_dpd  ·  util  ·  risk_band  ·  tenure  ·  product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floors for this example:  min_sample = 1,000   ·   min_lift = 1.5×   ·   min_events = 50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611880" cy="64008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304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Single-bin conditions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8892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7432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max_dpd ≥ 60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29260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n=2,400  rate=12%  lift=2.4×  ✓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27832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31821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 ≥ 0.85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14400" y="33649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n=1,800  rate=9%   lift=1.8×  ✓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66744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36210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risk_band = High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14400" y="380390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n=3,100  rate=8%   lift=1.6×  ✓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0565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0599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 &lt; 6m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14400" y="424281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n=900   rate=6%   lift=1.2×  ✗ sample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44568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4400" y="44988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= Gold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14400" y="46817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n=4,000  rate=5.2%  lift=1.04× ✗ lift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85800" y="5349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features that pass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1-way enter 2-way search.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297680" y="196596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4297680" y="1965960"/>
            <a:ext cx="3611880" cy="64008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4480560" y="2029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2-WAY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4480560" y="2304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of two surviving features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88920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09160" y="27432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max_dpd≥60  AND  util≥0.85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709160" y="29260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n=1,200  rate=18%  lift=3.6×  ✓</a:t>
            </a:r>
            <a:endParaRPr lang="en-US" sz="1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227832"/>
            <a:ext cx="201168" cy="2011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709160" y="31821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max_dpd≥60  AND  risk=High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4709160" y="33649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n=1,500  rate=14%  lift=2.8×  ✓</a:t>
            </a:r>
            <a:endParaRPr lang="en-US" sz="10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666744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09160" y="36210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util≥0.85  AND  risk=High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4709160" y="380390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n=1,100  rate=11%  lift=2.2×  ✓</a:t>
            </a:r>
            <a:endParaRPr lang="en-US" sz="10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105656"/>
            <a:ext cx="201168" cy="201168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4709160" y="40599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any pair with tenure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4709160" y="424281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failed 1-way → pruned</a:t>
            </a:r>
            <a:endParaRPr lang="en-US" sz="10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544568"/>
            <a:ext cx="201168" cy="20116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709160" y="44988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any pair with product</a:t>
            </a:r>
            <a:endParaRPr lang="en-US" sz="1100" dirty="0"/>
          </a:p>
        </p:txBody>
      </p:sp>
      <p:sp>
        <p:nvSpPr>
          <p:cNvPr id="46" name="Text 34"/>
          <p:cNvSpPr/>
          <p:nvPr/>
        </p:nvSpPr>
        <p:spPr>
          <a:xfrm>
            <a:off x="4709160" y="46817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failed 1-way → pruned</a:t>
            </a:r>
            <a:endParaRPr lang="en-US" sz="1000" dirty="0"/>
          </a:p>
        </p:txBody>
      </p:sp>
      <p:sp>
        <p:nvSpPr>
          <p:cNvPr id="47" name="Text 35"/>
          <p:cNvSpPr/>
          <p:nvPr/>
        </p:nvSpPr>
        <p:spPr>
          <a:xfrm>
            <a:off x="4480560" y="5349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Apriori: failed 1-way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never combined further.</a:t>
            </a:r>
            <a:endParaRPr lang="en-US" sz="1100" dirty="0"/>
          </a:p>
        </p:txBody>
      </p:sp>
      <p:sp>
        <p:nvSpPr>
          <p:cNvPr id="48" name="Shape 36"/>
          <p:cNvSpPr/>
          <p:nvPr/>
        </p:nvSpPr>
        <p:spPr>
          <a:xfrm>
            <a:off x="8092440" y="196596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37"/>
          <p:cNvSpPr/>
          <p:nvPr/>
        </p:nvSpPr>
        <p:spPr>
          <a:xfrm>
            <a:off x="8092440" y="1965960"/>
            <a:ext cx="3611880" cy="6400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38"/>
          <p:cNvSpPr/>
          <p:nvPr/>
        </p:nvSpPr>
        <p:spPr>
          <a:xfrm>
            <a:off x="8275320" y="2029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3-WAY</a:t>
            </a:r>
            <a:endParaRPr lang="en-US" sz="1600" dirty="0"/>
          </a:p>
        </p:txBody>
      </p:sp>
      <p:sp>
        <p:nvSpPr>
          <p:cNvPr id="51" name="Text 39"/>
          <p:cNvSpPr/>
          <p:nvPr/>
        </p:nvSpPr>
        <p:spPr>
          <a:xfrm>
            <a:off x="8275320" y="2304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of three surviving features</a:t>
            </a:r>
            <a:endParaRPr lang="en-US" sz="1100" dirty="0"/>
          </a:p>
        </p:txBody>
      </p:sp>
      <p:sp>
        <p:nvSpPr>
          <p:cNvPr id="53" name="Text 40"/>
          <p:cNvSpPr/>
          <p:nvPr/>
        </p:nvSpPr>
        <p:spPr>
          <a:xfrm>
            <a:off x="8503920" y="27432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max_dpd≥60 ∧ util≥0.85 ∧ risk=High</a:t>
            </a:r>
            <a:endParaRPr lang="en-US" sz="1100" dirty="0"/>
          </a:p>
        </p:txBody>
      </p:sp>
      <p:sp>
        <p:nvSpPr>
          <p:cNvPr id="54" name="Text 41"/>
          <p:cNvSpPr/>
          <p:nvPr/>
        </p:nvSpPr>
        <p:spPr>
          <a:xfrm>
            <a:off x="8503920" y="29260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n=850   rate=22%  lift=4.4×  ✗ sample</a:t>
            </a:r>
            <a:endParaRPr lang="en-US" sz="1000" dirty="0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227832"/>
            <a:ext cx="201168" cy="201168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8503920" y="31821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other triple clears floors)</a:t>
            </a:r>
            <a:endParaRPr lang="en-US" sz="1100" dirty="0"/>
          </a:p>
        </p:txBody>
      </p:sp>
      <p:sp>
        <p:nvSpPr>
          <p:cNvPr id="57" name="Text 43"/>
          <p:cNvSpPr/>
          <p:nvPr/>
        </p:nvSpPr>
        <p:spPr>
          <a:xfrm>
            <a:off x="8503920" y="343002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other triples fail min_sample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min_events</a:t>
            </a:r>
            <a:endParaRPr lang="en-US" sz="1000" dirty="0"/>
          </a:p>
        </p:txBody>
      </p:sp>
      <p:sp>
        <p:nvSpPr>
          <p:cNvPr id="58" name="Text 44"/>
          <p:cNvSpPr/>
          <p:nvPr/>
        </p:nvSpPr>
        <p:spPr>
          <a:xfrm>
            <a:off x="8275320" y="5349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run the 3-way fails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 → only 1- &amp; 2-way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go to ranking.</a:t>
            </a:r>
            <a:endParaRPr lang="en-US" sz="1100" dirty="0"/>
          </a:p>
        </p:txBody>
      </p:sp>
      <p:sp>
        <p:nvSpPr>
          <p:cNvPr id="59" name="Text 45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9E239986-76F4-3D10-7F2A-BD05699431CE}"/>
              </a:ext>
            </a:extLst>
          </p:cNvPr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pic>
        <p:nvPicPr>
          <p:cNvPr id="64" name="Image 11" descr="preencoded.png">
            <a:extLst>
              <a:ext uri="{FF2B5EF4-FFF2-40B4-BE49-F238E27FC236}">
                <a16:creationId xmlns:a16="http://schemas.microsoft.com/office/drawing/2014/main" id="{AD3B1E12-1F5A-CA80-6ED4-C9FDC7DB6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923" y="2779776"/>
            <a:ext cx="201168" cy="20116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B0FA9F70-0917-4611-FAC7-228513892542}"/>
              </a:ext>
            </a:extLst>
          </p:cNvPr>
          <p:cNvSpPr txBox="1"/>
          <p:nvPr/>
        </p:nvSpPr>
        <p:spPr>
          <a:xfrm>
            <a:off x="9301566" y="6199632"/>
            <a:ext cx="1588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i="1" dirty="0">
                <a:hlinkClick r:id="rId5" action="ppaction://hlinksldjump"/>
              </a:rPr>
              <a:t>Return to original slide</a:t>
            </a:r>
            <a:endParaRPr lang="en-IN" sz="12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2049</Words>
  <Application>Microsoft Office PowerPoint</Application>
  <PresentationFormat>Widescreen</PresentationFormat>
  <Paragraphs>388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RapidSegment – How It Works</dc:title>
  <dc:subject>Strategic Segmentation Engine Explained</dc:subject>
  <dc:creator>Analytics</dc:creator>
  <cp:lastModifiedBy>BISHWARUP BISWAS</cp:lastModifiedBy>
  <cp:revision>9</cp:revision>
  <dcterms:created xsi:type="dcterms:W3CDTF">2026-08-19T07:33:21Z</dcterms:created>
  <dcterms:modified xsi:type="dcterms:W3CDTF">2026-08-20T16:43:26Z</dcterms:modified>
</cp:coreProperties>
</file>